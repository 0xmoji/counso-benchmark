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charts/chart1.xml" ContentType="application/vnd.openxmlformats-officedocument.drawingml.chart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4"/>
  </p:sldMasterIdLst>
  <p:sldIdLst>
    <p:sldId id="256" r:id="rId1"/>
    <p:sldId id="257" r:id="rId2"/>
    <p:sldId id="258" r:id="rId3"/>
  </p:sldIdLst>
  <p:sldSz cx="12192000" cy="6858000" type="screen16x9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Master" Target="slideMasters/slideMaster1.xml"/></Relationships>
</file>

<file path=ppt/charts/_rels/chart1.xml.rels><Relationships xmlns="http://schemas.openxmlformats.org/package/2006/relationships"><Relationship Id="rId1" Type="http://schemas.openxmlformats.org/officeDocument/2006/relationships/package" Target="../embeddings/data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layout/>
      <c:barChart>
        <c:barDir val="col"/>
        <c:grouping val="clustered"/>
        <c:ser>
          <c:idx val="0"/>
          <c:order val="0"/>
          <c:tx>
            <c:v>Sales SGD</c:v>
          </c:tx>
          <c:cat>
            <c:strRef>
              <c:f>Sheet1!$A$2:$A$4</c:f>
              <c:strCache>
                <c:ptCount val="3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</c:strCache>
            </c:strRef>
          </c:cat>
          <c:val>
            <c:numRef>
              <c:f>Sheet1!$B$2:$B$4</c:f>
              <c:numCache>
                <c:formatCode>0.00</c:formatCode>
                <c:ptCount val="3"/>
                <c:pt idx="0">
                  <c:v>1200</c:v>
                </c:pt>
                <c:pt idx="1">
                  <c:v>1500</c:v>
                </c:pt>
                <c:pt idx="2">
                  <c:v>1800</c:v>
                </c:pt>
              </c:numCache>
            </c:numRef>
          </c:val>
        </c:ser>
        <c:axId val="100"/>
        <c:axId val="200"/>
      </c:barChart>
      <c:catAx>
        <c:axId val="100"/>
        <c:scaling>
          <c:orientation val="minMax"/>
        </c:scaling>
        <c:axPos val="b"/>
        <c:crossAx val="200"/>
        <c:crosses val="autoZero"/>
      </c:catAx>
      <c:valAx>
        <c:axId val="200"/>
        <c:scaling>
          <c:orientation val="minMax"/>
        </c:scaling>
        <c:axPos val="l"/>
        <c:crossAx val="100"/>
        <c:crosses val="autoZero"/>
      </c:valAx>
    </c:plotArea>
    <c:plotVisOnly val="1"/>
  </c:chart>
  <c:externalData r:id="rId1">
    <c:autoUpdate val="0"/>
  </c:externalData>
</c:chartSpace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3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700000" y="700000"/>
            <a:ext cx="10500000" cy="9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200"/>
              <a:t>Quarterly sales</a:t>
            </a:r>
            <a:endParaRPr lang="en-US"/>
          </a:p>
        </p:txBody>
      </p:sp>
      <p:sp>
        <p:nvSpPr>
          <p:cNvPr id="3" name="Text 3"/>
          <p:cNvSpPr/>
          <p:nvPr/>
        </p:nvSpPr>
        <p:spPr>
          <a:xfrm>
            <a:off x="700000" y="2200000"/>
            <a:ext cx="10500000" cy="9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800"/>
              <a:t>Total SGD 4,500.00</a:t>
            </a:r>
            <a:endParaRPr lang="en-US"/>
          </a:p>
        </p:txBody>
      </p:sp>
      <p:sp>
        <p:nvSpPr>
          <p:cNvPr id="4" name="Text 4"/>
          <p:cNvSpPr/>
          <p:nvPr/>
        </p:nvSpPr>
        <p:spPr>
          <a:xfrm>
            <a:off x="700000" y="5400000"/>
            <a:ext cx="10500000" cy="9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600"/>
              <a:t>Synthetic fixture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700000" y="500000"/>
            <a:ext cx="10500000" cy="9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200"/>
              <a:t>Monthly sales</a:t>
            </a:r>
            <a:endParaRPr lang="en-US"/>
          </a:p>
        </p:txBody>
      </p:sp>
      <p:graphicFrame>
        <p:nvGraphicFramePr>
          <p:cNvPr id="3" name="Monthly sales chart"/>
          <p:cNvGraphicFramePr/>
          <p:nvPr/>
        </p:nvGraphicFramePr>
        <p:xfrm>
          <a:off x="1000000" y="1600000"/>
          <a:ext cx="10000000" cy="40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700000" y="700000"/>
            <a:ext cx="10500000" cy="9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200"/>
              <a:t>Next steps</a:t>
            </a:r>
            <a:endParaRPr lang="en-US"/>
          </a:p>
        </p:txBody>
      </p:sp>
      <p:sp>
        <p:nvSpPr>
          <p:cNvPr id="3" name="Text 3"/>
          <p:cNvSpPr/>
          <p:nvPr/>
        </p:nvSpPr>
        <p:spPr>
          <a:xfrm>
            <a:off x="700000" y="2200000"/>
            <a:ext cx="10500000" cy="9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400"/>
              <a:t>Review March demand</a:t>
            </a:r>
            <a:endParaRPr lang="en-US"/>
          </a:p>
        </p:txBody>
      </p:sp>
      <p:sp>
        <p:nvSpPr>
          <p:cNvPr id="4" name="Text 4"/>
          <p:cNvSpPr/>
          <p:nvPr/>
        </p:nvSpPr>
        <p:spPr>
          <a:xfrm>
            <a:off x="700000" y="5400000"/>
            <a:ext cx="10500000" cy="9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600"/>
              <a:t>Synthetic fixture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ynthetic">
  <a:themeElements>
    <a:clrScheme name="Synthetic">
      <a:dk1>
        <a:srgbClr val="172434"/>
      </a:dk1>
      <a:lt1>
        <a:srgbClr val="FFFFFF"/>
      </a:lt1>
      <a:dk2>
        <a:srgbClr val="24384F"/>
      </a:dk2>
      <a:lt2>
        <a:srgbClr val="F6F8FA"/>
      </a:lt2>
      <a:accent1>
        <a:srgbClr val="176B87"/>
      </a:accent1>
      <a:accent2>
        <a:srgbClr val="64A1B8"/>
      </a:accent2>
      <a:accent3>
        <a:srgbClr val="508869"/>
      </a:accent3>
      <a:accent4>
        <a:srgbClr val="A78C54"/>
      </a:accent4>
      <a:accent5>
        <a:srgbClr val="806AB2"/>
      </a:accent5>
      <a:accent6>
        <a:srgbClr val="9C6670"/>
      </a:accent6>
      <a:hlink>
        <a:srgbClr val="0000FF"/>
      </a:hlink>
      <a:folHlink>
        <a:srgbClr val="800080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ynthetic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